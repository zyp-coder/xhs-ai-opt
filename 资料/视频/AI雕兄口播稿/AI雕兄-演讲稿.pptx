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一个人做小红书，凌晨还在发笔记——三个月过去，一个咨询都没有。</a:t>
            </a:r>
          </a:p>
          <a:p/>
          <a:p>
            <a:r>
              <a:t>不是你不行。是你从头到尾，都在瞎使劲。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很多小生意做线上流量，两个问题没想明白。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视频号能增加曝光，但是对于客户来说，你就是个陌生人在自卖自夸。</a:t>
            </a:r>
          </a:p>
          <a:p>
            <a:r>
              <a:t>小红书的用户是主动在平台上搜索，陌生人来讲经验、讲感受，反而可信。</a:t>
            </a:r>
          </a:p>
          <a:p>
            <a:r>
              <a:t>你不去，丢的是正在找答案的人。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流量博主要的是流量，你要的是客户。</a:t>
            </a:r>
          </a:p>
          <a:p>
            <a:r>
              <a:t>不是你不行，是你用流量博主的打法，做小生意的生意。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真正的获客不是等。</a:t>
            </a:r>
          </a:p>
          <a:p>
            <a:r>
              <a:t>是去用户已经在搜、已经在问的地方，你要把他接住。</a:t>
            </a:r>
          </a:p>
          <a:p>
            <a:r>
              <a:t>小红书的机会，不在你自嗨的笔记里，在别人正在被搜的笔记的评论区里。</a:t>
            </a:r>
          </a:p>
          <a:p>
            <a:r>
              <a:t>你在里面专业回一句，真诚答一句，刷到的人就有可能和你互动。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寻找有商机的笔记，评论区里获客，主页给信任，私信接需求。</a:t>
            </a:r>
          </a:p>
          <a:p>
            <a:r>
              <a:t>这才是小生意做小红书的打法。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我以前在大厂写代码，现在把整套小红书获客体系都总结出来了；</a:t>
            </a:r>
          </a:p>
          <a:p>
            <a:r>
              <a:t>我用它来给我的产品推广，就用我刚才说的体系，没投广告、没买流量，15天承接了1000多个真人加到我的产品/私域。</a:t>
            </a:r>
          </a:p>
          <a:p>
            <a:r>
              <a:t>个人测试，效果因账号、品类、执行而异。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我最开始做了个房贷计算器，做完发现：没人搜得到我。</a:t>
            </a:r>
          </a:p>
          <a:p>
            <a:r>
              <a:t>它没有关键词入口，天然流量起不来。</a:t>
            </a:r>
          </a:p>
          <a:p>
            <a:r>
              <a:t>那我就想——客户到底在哪？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找一个客户会主动搜、主动问的地方。</a:t>
            </a:r>
          </a:p>
          <a:p>
            <a:r>
              <a:t>这东西好不好？那家店行不行？怎么买？怎么弄？</a:t>
            </a:r>
          </a:p>
          <a:p>
            <a:r>
              <a:t>他一搜，需求就摆在那。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小红书跟别的平台不一样，它是陌生人种草。</a:t>
            </a:r>
          </a:p>
          <a:p>
            <a:r>
              <a:t>用户不信硬广，信评论区里像真人的那一句。</a:t>
            </a:r>
          </a:p>
          <a:p>
            <a:r>
              <a:t>你去那些正在被搜、正在被推的笔记下面，专业地回一句，真诚地答一句，刷到的人就可能点开你主页。</a:t>
            </a:r>
          </a:p>
          <a:p>
            <a:r>
              <a:t>这，就是你的机会。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记住，做小生意的，跟流量博主完全是两套打法。</a:t>
            </a:r>
          </a:p>
          <a:p>
            <a:r>
              <a:t>主页，是让你展示专业度的。</a:t>
            </a:r>
          </a:p>
          <a:p>
            <a:r>
              <a:t>评论，才是帮你获客的。</a:t>
            </a:r>
          </a:p>
          <a:p>
            <a:r>
              <a:t>主页给信任，评论接需求。</a:t>
            </a:r>
          </a:p>
          <a:p>
            <a:r>
              <a:t>这才是小生意做小红书的真正打法。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但这样就行了吗？还不行。</a:t>
            </a:r>
          </a:p>
          <a:p>
            <a:r>
              <a:t>你在评论区捞到人，没法直接把他带走。</a:t>
            </a:r>
          </a:p>
          <a:p>
            <a:r>
              <a:t>他在评论区刷到你，点个赞，划走了。</a:t>
            </a:r>
          </a:p>
          <a:p>
            <a:r>
              <a:t>你说"来主页"，他为什么要来？他刷下一条了。</a:t>
            </a:r>
          </a:p>
          <a:p>
            <a:r>
              <a:t>更现实的是，小红书不是他的核心聊天软件。</a:t>
            </a:r>
          </a:p>
          <a:p>
            <a:r>
              <a:t>他可能一天打开一次，也可能几天才想起来看。</a:t>
            </a:r>
          </a:p>
          <a:p>
            <a:r>
              <a:t>你的私信躺在他消息列表里，回慢一步，凉一半；回晚一天，忘干净。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捞人不难，难的是接得住。</a:t>
            </a:r>
          </a:p>
          <a:p>
            <a:r>
              <a:t>你辛辛苦苦捞的人，就这么漏了。</a:t>
            </a:r>
          </a:p>
          <a:p>
            <a:r>
              <a:t>漏一个评论，漏一笔钱。漏一个私信，漏一个客户。</a:t>
            </a:r>
          </a:p>
          <a:p>
            <a:r>
              <a:t>你天天在捞，天天在漏。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所以做小红书获客，不是发内容就完了。</a:t>
            </a:r>
          </a:p>
          <a:p>
            <a:r>
              <a:t>是你得把这条路径接住：</a:t>
            </a:r>
          </a:p>
          <a:p>
            <a:r>
              <a:t>搜索词铺好，让他搜得到你。</a:t>
            </a:r>
          </a:p>
          <a:p>
            <a:r>
              <a:t>评论区互动，让他看见你。</a:t>
            </a:r>
          </a:p>
          <a:p>
            <a:r>
              <a:t>私信接住，让他信你。</a:t>
            </a:r>
          </a:p>
          <a:p>
            <a:r>
              <a:t>主页沉淀，让他到你手里。</a:t>
            </a:r>
          </a:p>
          <a:p>
            <a:r>
              <a:t>中间断一环，人就没了。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我跑通之后，最大的感受就三个。</a:t>
            </a:r>
          </a:p>
          <a:p>
            <a:r>
              <a:t>第一，人设比内容重要。</a:t>
            </a:r>
          </a:p>
          <a:p>
            <a:r>
              <a:t>用户搜到你，凭什么信你？凭什么加你？凭什么买你？</a:t>
            </a:r>
          </a:p>
          <a:p>
            <a:r>
              <a:t>不是因为你发得多，是因为你看起来靠谱、专业、真实。</a:t>
            </a:r>
          </a:p>
          <a:p>
            <a:r>
              <a:t>账号不会定位，发一堆没人看；不知道发啥，打开就愣。</a:t>
            </a:r>
          </a:p>
          <a:p>
            <a:r>
              <a:t>本质上是人设没立住。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第二，获客才是做生意的本质。</a:t>
            </a:r>
          </a:p>
          <a:p>
            <a:r>
              <a:t>客户已经在搜了，已经有需求了，你把他接住。</a:t>
            </a:r>
          </a:p>
          <a:p>
            <a:r>
              <a:t>不是硬广，不是群发，是去评论区、搜索词、私信里，把已经有需求的人捞出来。</a:t>
            </a:r>
          </a:p>
          <a:p>
            <a:r>
              <a:t>漏一个评论，就漏一笔钱；接住一个搜索，就多一个客户。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第三，一个人干，不能只靠拼命，得有章法。</a:t>
            </a:r>
          </a:p>
          <a:p>
            <a:r>
              <a:t>发完不是结束，后面每一步都得有承接、有跟进、有调整。</a:t>
            </a:r>
          </a:p>
          <a:p>
            <a:r>
              <a:t>哪条内容在带人，哪个动作有效，你心里得有数。</a:t>
            </a:r>
          </a:p>
          <a:p>
            <a:r>
              <a:t>不然你根本不知道客户从哪来，也不知道人从哪漏。</a:t>
            </a:r>
          </a:p>
          <a:p>
            <a:r>
              <a:t>光靠手动硬干，累死也跑不通。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2026了，还在为获客发愁？</a:t>
            </a:r>
          </a:p>
          <a:p>
            <a:r>
              <a:t>前大厂码农，江湖散人。</a:t>
            </a:r>
          </a:p>
          <a:p>
            <a:r>
              <a:t>我用AI雕兄跑通从0到1，纯内容获客，15天承接1000+真人。</a:t>
            </a:r>
          </a:p>
          <a:p>
            <a:r>
              <a:t>效果因人而异。</a:t>
            </a:r>
          </a:p>
          <a:p/>
          <a:p>
            <a:r>
              <a:t>9.9试用，先做账号诊断。</a:t>
            </a:r>
          </a:p>
          <a:p>
            <a:r>
              <a:t>方向对不对，先诊断了才知道。</a:t>
            </a:r>
          </a:p>
          <a:p>
            <a:r>
              <a:t>不合适，不勉强。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2024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5F5F5"/>
                </a:solidFill>
                <a:latin typeface="微软雅黑"/>
              </a:rPr>
              <a:t>很多小生意做线上流量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5200" b="1">
                <a:solidFill>
                  <a:srgbClr val="D4AF37"/>
                </a:solidFill>
                <a:latin typeface="微软雅黑"/>
              </a:rPr>
              <a:t>两个问题没想明白</a:t>
            </a:r>
          </a:p>
          <a:p>
            <a:pPr algn="ctr">
              <a:spcBef>
                <a:spcPts val="2600"/>
              </a:spcBef>
              <a:spcAft>
                <a:spcPts val="1000"/>
              </a:spcAft>
            </a:pPr>
            <a:r>
              <a:rPr sz="2200" b="0">
                <a:solidFill>
                  <a:srgbClr val="8A929C"/>
                </a:solidFill>
                <a:latin typeface="微软雅黑"/>
              </a:rPr>
              <a:t>—— 小红书获客体系分享 ——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1800"/>
              </a:spcAft>
            </a:pPr>
            <a:r>
              <a:rPr sz="4000" b="1">
                <a:solidFill>
                  <a:srgbClr val="F5F5F5"/>
                </a:solidFill>
                <a:latin typeface="微软雅黑"/>
              </a:rPr>
              <a:t>两个问题没想明白</a:t>
            </a:r>
          </a:p>
          <a:p>
            <a:pPr algn="l">
              <a:spcBef>
                <a:spcPts val="2400"/>
              </a:spcBef>
              <a:spcAft>
                <a:spcPts val="1000"/>
              </a:spcAft>
            </a:pPr>
            <a:r>
              <a:rPr sz="3200" b="0">
                <a:solidFill>
                  <a:srgbClr val="F5F5F5"/>
                </a:solidFill>
                <a:latin typeface="微软雅黑"/>
              </a:rPr>
              <a:t>①  只盯视频号，丢了陌生人搜索种草的流量</a:t>
            </a:r>
          </a:p>
          <a:p>
            <a:pPr algn="l">
              <a:spcBef>
                <a:spcPts val="1600"/>
              </a:spcBef>
              <a:spcAft>
                <a:spcPts val="1000"/>
              </a:spcAft>
            </a:pPr>
            <a:r>
              <a:rPr sz="3200" b="0">
                <a:solidFill>
                  <a:srgbClr val="F5F5F5"/>
                </a:solidFill>
                <a:latin typeface="微软雅黑"/>
              </a:rPr>
              <a:t>②  做小红书，跟着流量博主刷笔记等流量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1887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1800"/>
              </a:spcAft>
            </a:pPr>
            <a:r>
              <a:rPr sz="4000" b="1">
                <a:solidFill>
                  <a:srgbClr val="F5F5F5"/>
                </a:solidFill>
                <a:latin typeface="微软雅黑"/>
              </a:rPr>
              <a:t>问题一｜只盯视频号</a:t>
            </a:r>
          </a:p>
          <a:p>
            <a:pPr algn="l">
              <a:spcBef>
                <a:spcPts val="1600"/>
              </a:spcBef>
              <a:spcAft>
                <a:spcPts val="1000"/>
              </a:spcAft>
            </a:pPr>
            <a:r>
              <a:rPr sz="3000" b="0">
                <a:solidFill>
                  <a:srgbClr val="E8503A"/>
                </a:solidFill>
                <a:latin typeface="微软雅黑"/>
              </a:rPr>
              <a:t>视频号 = 曝光</a:t>
            </a:r>
          </a:p>
          <a:p>
            <a:pPr algn="l">
              <a:spcBef>
                <a:spcPts val="1000"/>
              </a:spcBef>
              <a:spcAft>
                <a:spcPts val="1000"/>
              </a:spcAft>
            </a:pPr>
            <a:r>
              <a:rPr sz="2400" b="0">
                <a:solidFill>
                  <a:srgbClr val="B8BDC4"/>
                </a:solidFill>
                <a:latin typeface="微软雅黑"/>
              </a:rPr>
              <a:t>但在客户眼里：一个陌生人在自卖自夸</a:t>
            </a:r>
          </a:p>
          <a:p>
            <a:pPr algn="l">
              <a:spcBef>
                <a:spcPts val="2800"/>
              </a:spcBef>
              <a:spcAft>
                <a:spcPts val="1000"/>
              </a:spcAft>
            </a:pPr>
            <a:r>
              <a:rPr sz="3000" b="0">
                <a:solidFill>
                  <a:srgbClr val="D4AF37"/>
                </a:solidFill>
                <a:latin typeface="微软雅黑"/>
              </a:rPr>
              <a:t>小红书 = 主动搜索</a:t>
            </a:r>
          </a:p>
          <a:p>
            <a:pPr algn="l">
              <a:spcBef>
                <a:spcPts val="1000"/>
              </a:spcBef>
              <a:spcAft>
                <a:spcPts val="1000"/>
              </a:spcAft>
            </a:pPr>
            <a:r>
              <a:rPr sz="2400" b="0">
                <a:solidFill>
                  <a:srgbClr val="B8BDC4"/>
                </a:solidFill>
                <a:latin typeface="微软雅黑"/>
              </a:rPr>
              <a:t>陌生人来讲经验、讲感受 —— 反而可信</a:t>
            </a:r>
          </a:p>
          <a:p>
            <a:pPr algn="l">
              <a:spcBef>
                <a:spcPts val="2800"/>
              </a:spcBef>
              <a:spcAft>
                <a:spcPts val="1000"/>
              </a:spcAft>
            </a:pPr>
            <a:r>
              <a:rPr sz="2600" b="1">
                <a:solidFill>
                  <a:srgbClr val="F5F5F5"/>
                </a:solidFill>
                <a:latin typeface="微软雅黑"/>
              </a:rPr>
              <a:t>你不去，丢的是正在找答案的人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1887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1800"/>
              </a:spcAft>
            </a:pPr>
            <a:r>
              <a:rPr sz="4000" b="1">
                <a:solidFill>
                  <a:srgbClr val="F5F5F5"/>
                </a:solidFill>
                <a:latin typeface="微软雅黑"/>
              </a:rPr>
              <a:t>问题二｜跟着流量博主刷笔记等流量</a:t>
            </a:r>
          </a:p>
          <a:p>
            <a:pPr algn="l">
              <a:spcBef>
                <a:spcPts val="3000"/>
              </a:spcBef>
              <a:spcAft>
                <a:spcPts val="1000"/>
              </a:spcAft>
            </a:pPr>
            <a:r>
              <a:rPr sz="3400" b="0">
                <a:solidFill>
                  <a:srgbClr val="F5F5F5"/>
                </a:solidFill>
                <a:latin typeface="微软雅黑"/>
              </a:rPr>
              <a:t>流量博主要的是流量</a:t>
            </a:r>
          </a:p>
          <a:p>
            <a:pPr algn="l">
              <a:spcBef>
                <a:spcPts val="600"/>
              </a:spcBef>
              <a:spcAft>
                <a:spcPts val="1000"/>
              </a:spcAft>
            </a:pPr>
            <a:r>
              <a:rPr sz="3400" b="1">
                <a:solidFill>
                  <a:srgbClr val="D4AF37"/>
                </a:solidFill>
                <a:latin typeface="微软雅黑"/>
              </a:rPr>
              <a:t>你要的是客户</a:t>
            </a:r>
          </a:p>
          <a:p>
            <a:pPr algn="l">
              <a:spcBef>
                <a:spcPts val="4000"/>
              </a:spcBef>
              <a:spcAft>
                <a:spcPts val="1000"/>
              </a:spcAft>
            </a:pPr>
            <a:r>
              <a:rPr sz="2600" b="1">
                <a:solidFill>
                  <a:srgbClr val="E8503A"/>
                </a:solidFill>
                <a:latin typeface="微软雅黑"/>
              </a:rPr>
              <a:t>不是你不行——是你用流量博主的打法，做小生意的生意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2801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1800"/>
              </a:spcAft>
            </a:pPr>
            <a:r>
              <a:rPr sz="4000" b="1">
                <a:solidFill>
                  <a:srgbClr val="F5F5F5"/>
                </a:solidFill>
                <a:latin typeface="微软雅黑"/>
              </a:rPr>
              <a:t>真正的获客，不是等</a:t>
            </a:r>
          </a:p>
          <a:p>
            <a:pPr algn="l">
              <a:spcBef>
                <a:spcPts val="2200"/>
              </a:spcBef>
              <a:spcAft>
                <a:spcPts val="1000"/>
              </a:spcAft>
            </a:pPr>
            <a:r>
              <a:rPr sz="3000" b="0">
                <a:solidFill>
                  <a:srgbClr val="F5F5F5"/>
                </a:solidFill>
                <a:latin typeface="微软雅黑"/>
              </a:rPr>
              <a:t>去用户已经在搜、已经在问的地方 —— 把他接住</a:t>
            </a:r>
          </a:p>
          <a:p>
            <a:pPr algn="l">
              <a:spcBef>
                <a:spcPts val="3400"/>
              </a:spcBef>
              <a:spcAft>
                <a:spcPts val="1000"/>
              </a:spcAft>
            </a:pPr>
            <a:r>
              <a:rPr sz="2800" b="0">
                <a:solidFill>
                  <a:srgbClr val="8A929C"/>
                </a:solidFill>
                <a:latin typeface="微软雅黑"/>
              </a:rPr>
              <a:t>机会不在你自嗨的笔记里</a:t>
            </a:r>
          </a:p>
          <a:p>
            <a:pPr algn="l">
              <a:spcBef>
                <a:spcPts val="800"/>
              </a:spcBef>
              <a:spcAft>
                <a:spcPts val="1000"/>
              </a:spcAft>
            </a:pPr>
            <a:r>
              <a:rPr sz="3000" b="1">
                <a:solidFill>
                  <a:srgbClr val="D4AF37"/>
                </a:solidFill>
                <a:latin typeface="微软雅黑"/>
              </a:rPr>
              <a:t>在别人正在被搜的笔记的评论区里</a:t>
            </a:r>
          </a:p>
          <a:p>
            <a:pPr algn="l">
              <a:spcBef>
                <a:spcPts val="3000"/>
              </a:spcBef>
              <a:spcAft>
                <a:spcPts val="1000"/>
              </a:spcAft>
            </a:pPr>
            <a:r>
              <a:rPr sz="2400" b="0">
                <a:solidFill>
                  <a:srgbClr val="B8BDC4"/>
                </a:solidFill>
                <a:latin typeface="微软雅黑"/>
              </a:rPr>
              <a:t>专业回一句，真诚答一句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1800"/>
              </a:spcAft>
            </a:pPr>
            <a:r>
              <a:rPr sz="4000" b="1">
                <a:solidFill>
                  <a:srgbClr val="F5F5F5"/>
                </a:solidFill>
                <a:latin typeface="微软雅黑"/>
              </a:rPr>
              <a:t>小生意做小红书的三层结构</a:t>
            </a:r>
          </a:p>
          <a:p>
            <a:pPr algn="l">
              <a:spcBef>
                <a:spcPts val="2600"/>
              </a:spcBef>
              <a:spcAft>
                <a:spcPts val="1000"/>
              </a:spcAft>
            </a:pPr>
            <a:r>
              <a:rPr sz="3000" b="0">
                <a:solidFill>
                  <a:srgbClr val="F5F5F5"/>
                </a:solidFill>
                <a:latin typeface="微软雅黑"/>
              </a:rPr>
              <a:t>评论区 · 获客        —— 寻找有商机的笔记，主动接人</a:t>
            </a:r>
          </a:p>
          <a:p>
            <a:pPr algn="l">
              <a:spcBef>
                <a:spcPts val="1800"/>
              </a:spcBef>
              <a:spcAft>
                <a:spcPts val="1000"/>
              </a:spcAft>
            </a:pPr>
            <a:r>
              <a:rPr sz="3000" b="0">
                <a:solidFill>
                  <a:srgbClr val="F5F5F5"/>
                </a:solidFill>
                <a:latin typeface="微软雅黑"/>
              </a:rPr>
              <a:t>主页 · 给信任       —— 让人一眼看出你专业、靠得住</a:t>
            </a:r>
          </a:p>
          <a:p>
            <a:pPr algn="l">
              <a:spcBef>
                <a:spcPts val="1800"/>
              </a:spcBef>
              <a:spcAft>
                <a:spcPts val="1000"/>
              </a:spcAft>
            </a:pPr>
            <a:r>
              <a:rPr sz="3000" b="0">
                <a:solidFill>
                  <a:srgbClr val="F5F5F5"/>
                </a:solidFill>
                <a:latin typeface="微软雅黑"/>
              </a:rPr>
              <a:t>私信 · 接需求       —— 把人接住，不漏</a:t>
            </a:r>
          </a:p>
          <a:p>
            <a:pPr algn="l">
              <a:spcBef>
                <a:spcPts val="3600"/>
              </a:spcBef>
              <a:spcAft>
                <a:spcPts val="1000"/>
              </a:spcAft>
            </a:pPr>
            <a:r>
              <a:rPr sz="2600" b="1">
                <a:solidFill>
                  <a:srgbClr val="D4AF37"/>
                </a:solidFill>
                <a:latin typeface="微软雅黑"/>
              </a:rPr>
              <a:t>这才是小生意做小红书的打法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46304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1800"/>
              </a:spcAft>
            </a:pPr>
            <a:r>
              <a:rPr sz="4000" b="1">
                <a:solidFill>
                  <a:srgbClr val="F5F5F5"/>
                </a:solidFill>
                <a:latin typeface="微软雅黑"/>
              </a:rPr>
              <a:t>先说一下我是怎么做的</a:t>
            </a:r>
          </a:p>
          <a:p>
            <a:pPr algn="l">
              <a:spcBef>
                <a:spcPts val="2400"/>
              </a:spcBef>
              <a:spcAft>
                <a:spcPts val="1000"/>
              </a:spcAft>
            </a:pPr>
            <a:r>
              <a:rPr sz="2800" b="0">
                <a:solidFill>
                  <a:srgbClr val="F5F5F5"/>
                </a:solidFill>
                <a:latin typeface="微软雅黑"/>
              </a:rPr>
              <a:t>前大厂码农，现总结了一整套小红书获客体系</a:t>
            </a:r>
          </a:p>
          <a:p>
            <a:pPr algn="l">
              <a:spcBef>
                <a:spcPts val="1400"/>
              </a:spcBef>
              <a:spcAft>
                <a:spcPts val="1000"/>
              </a:spcAft>
            </a:pPr>
            <a:r>
              <a:rPr sz="2800" b="0">
                <a:solidFill>
                  <a:srgbClr val="F5F5F5"/>
                </a:solidFill>
                <a:latin typeface="微软雅黑"/>
              </a:rPr>
              <a:t>用它推广自己的产品：没投广告、没买流量</a:t>
            </a:r>
          </a:p>
          <a:p>
            <a:pPr algn="l">
              <a:spcBef>
                <a:spcPts val="3000"/>
              </a:spcBef>
              <a:spcAft>
                <a:spcPts val="1000"/>
              </a:spcAft>
            </a:pPr>
            <a:r>
              <a:rPr sz="4800" b="1">
                <a:solidFill>
                  <a:srgbClr val="D4AF37"/>
                </a:solidFill>
                <a:latin typeface="微软雅黑"/>
              </a:rPr>
              <a:t>15 天，承接 1000+ 真人</a:t>
            </a:r>
          </a:p>
          <a:p>
            <a:pPr algn="l">
              <a:spcBef>
                <a:spcPts val="2400"/>
              </a:spcBef>
              <a:spcAft>
                <a:spcPts val="1000"/>
              </a:spcAft>
            </a:pPr>
            <a:r>
              <a:rPr sz="2000" b="0">
                <a:solidFill>
                  <a:srgbClr val="8A929C"/>
                </a:solidFill>
                <a:latin typeface="微软雅黑"/>
              </a:rPr>
              <a:t>个人测试，效果因账号、品类、执行而异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2801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1800"/>
              </a:spcAft>
            </a:pPr>
            <a:r>
              <a:rPr sz="4000" b="1">
                <a:solidFill>
                  <a:srgbClr val="F5F5F5"/>
                </a:solidFill>
                <a:latin typeface="微软雅黑"/>
              </a:rPr>
              <a:t>我最开始做了个房贷计算器</a:t>
            </a:r>
          </a:p>
          <a:p>
            <a:pPr algn="l">
              <a:spcBef>
                <a:spcPts val="2600"/>
              </a:spcBef>
              <a:spcAft>
                <a:spcPts val="1000"/>
              </a:spcAft>
            </a:pPr>
            <a:r>
              <a:rPr sz="3400" b="1">
                <a:solidFill>
                  <a:srgbClr val="E8503A"/>
                </a:solidFill>
                <a:latin typeface="微软雅黑"/>
              </a:rPr>
              <a:t>做完发现：没人搜得到我</a:t>
            </a:r>
          </a:p>
          <a:p>
            <a:pPr algn="l">
              <a:spcBef>
                <a:spcPts val="1400"/>
              </a:spcBef>
              <a:spcAft>
                <a:spcPts val="1000"/>
              </a:spcAft>
            </a:pPr>
            <a:r>
              <a:rPr sz="2600" b="0">
                <a:solidFill>
                  <a:srgbClr val="B8BDC4"/>
                </a:solidFill>
                <a:latin typeface="微软雅黑"/>
              </a:rPr>
              <a:t>没有关键词入口，天然流量起不来</a:t>
            </a:r>
          </a:p>
          <a:p>
            <a:pPr algn="l">
              <a:spcBef>
                <a:spcPts val="4000"/>
              </a:spcBef>
              <a:spcAft>
                <a:spcPts val="1000"/>
              </a:spcAft>
            </a:pPr>
            <a:r>
              <a:rPr sz="2800" b="0">
                <a:solidFill>
                  <a:srgbClr val="F5F5F5"/>
                </a:solidFill>
                <a:latin typeface="微软雅黑"/>
              </a:rPr>
              <a:t>那我就想——</a:t>
            </a:r>
          </a:p>
          <a:p>
            <a:pPr algn="l">
              <a:spcBef>
                <a:spcPts val="1000"/>
              </a:spcBef>
              <a:spcAft>
                <a:spcPts val="1000"/>
              </a:spcAft>
            </a:pPr>
            <a:r>
              <a:rPr sz="4400" b="1">
                <a:solidFill>
                  <a:srgbClr val="D4AF37"/>
                </a:solidFill>
                <a:latin typeface="微软雅黑"/>
              </a:rPr>
              <a:t>客户到底在哪？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2801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1800"/>
              </a:spcAft>
            </a:pPr>
            <a:r>
              <a:rPr sz="4000" b="1">
                <a:solidFill>
                  <a:srgbClr val="F5F5F5"/>
                </a:solidFill>
                <a:latin typeface="微软雅黑"/>
              </a:rPr>
              <a:t>找一个客户会主动搜、主动问的地方</a:t>
            </a:r>
          </a:p>
          <a:p>
            <a:pPr algn="l">
              <a:spcBef>
                <a:spcPts val="3000"/>
              </a:spcBef>
              <a:spcAft>
                <a:spcPts val="1000"/>
              </a:spcAft>
            </a:pPr>
            <a:r>
              <a:rPr sz="3200" b="0">
                <a:solidFill>
                  <a:srgbClr val="F5F5F5"/>
                </a:solidFill>
                <a:latin typeface="微软雅黑"/>
              </a:rPr>
              <a:t>这东西好不好？  那家店行不行？</a:t>
            </a:r>
          </a:p>
          <a:p>
            <a:pPr algn="l">
              <a:spcBef>
                <a:spcPts val="1200"/>
              </a:spcBef>
              <a:spcAft>
                <a:spcPts val="1000"/>
              </a:spcAft>
            </a:pPr>
            <a:r>
              <a:rPr sz="3200" b="0">
                <a:solidFill>
                  <a:srgbClr val="F5F5F5"/>
                </a:solidFill>
                <a:latin typeface="微软雅黑"/>
              </a:rPr>
              <a:t>怎么买？  怎么弄？</a:t>
            </a:r>
          </a:p>
          <a:p>
            <a:pPr algn="l">
              <a:spcBef>
                <a:spcPts val="4500"/>
              </a:spcBef>
              <a:spcAft>
                <a:spcPts val="1000"/>
              </a:spcAft>
            </a:pPr>
            <a:r>
              <a:rPr sz="3400" b="1">
                <a:solidFill>
                  <a:srgbClr val="D4AF37"/>
                </a:solidFill>
                <a:latin typeface="微软雅黑"/>
              </a:rPr>
              <a:t>他一搜 —— 需求就摆在那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18872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1800"/>
              </a:spcAft>
            </a:pPr>
            <a:r>
              <a:rPr sz="4000" b="1">
                <a:solidFill>
                  <a:srgbClr val="F5F5F5"/>
                </a:solidFill>
                <a:latin typeface="微软雅黑"/>
              </a:rPr>
              <a:t>小红书：陌生人种草</a:t>
            </a:r>
          </a:p>
          <a:p>
            <a:pPr algn="l">
              <a:spcBef>
                <a:spcPts val="2000"/>
              </a:spcBef>
              <a:spcAft>
                <a:spcPts val="1000"/>
              </a:spcAft>
            </a:pPr>
            <a:r>
              <a:rPr sz="2800" b="0">
                <a:solidFill>
                  <a:srgbClr val="F5F5F5"/>
                </a:solidFill>
                <a:latin typeface="微软雅黑"/>
              </a:rPr>
              <a:t>用户不信硬广，信评论区里像真人的那一句</a:t>
            </a:r>
          </a:p>
          <a:p>
            <a:pPr algn="l">
              <a:spcBef>
                <a:spcPts val="2000"/>
              </a:spcBef>
              <a:spcAft>
                <a:spcPts val="1000"/>
              </a:spcAft>
            </a:pPr>
            <a:r>
              <a:rPr sz="2800" b="0">
                <a:solidFill>
                  <a:srgbClr val="F5F5F5"/>
                </a:solidFill>
                <a:latin typeface="微软雅黑"/>
              </a:rPr>
              <a:t>去正在被搜、正在被推的笔记下面</a:t>
            </a:r>
          </a:p>
          <a:p>
            <a:pPr algn="l">
              <a:spcBef>
                <a:spcPts val="1400"/>
              </a:spcBef>
              <a:spcAft>
                <a:spcPts val="1000"/>
              </a:spcAft>
            </a:pPr>
            <a:r>
              <a:rPr sz="2600" b="0">
                <a:solidFill>
                  <a:srgbClr val="B8BDC4"/>
                </a:solidFill>
                <a:latin typeface="微软雅黑"/>
              </a:rPr>
              <a:t>专业回一句，真诚答一句 → 他点开你主页</a:t>
            </a:r>
          </a:p>
          <a:p>
            <a:pPr algn="l">
              <a:spcBef>
                <a:spcPts val="3400"/>
              </a:spcBef>
              <a:spcAft>
                <a:spcPts val="1000"/>
              </a:spcAft>
            </a:pPr>
            <a:r>
              <a:rPr sz="3600" b="1">
                <a:solidFill>
                  <a:srgbClr val="D4AF37"/>
                </a:solidFill>
                <a:latin typeface="微软雅黑"/>
              </a:rPr>
              <a:t>这，就是你的机会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2801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1800"/>
              </a:spcAft>
            </a:pPr>
            <a:r>
              <a:rPr sz="4000" b="1">
                <a:solidFill>
                  <a:srgbClr val="F5F5F5"/>
                </a:solidFill>
                <a:latin typeface="微软雅黑"/>
              </a:rPr>
              <a:t>两套打法，别混用</a:t>
            </a:r>
          </a:p>
          <a:p>
            <a:pPr algn="l">
              <a:spcBef>
                <a:spcPts val="2400"/>
              </a:spcBef>
              <a:spcAft>
                <a:spcPts val="1000"/>
              </a:spcAft>
            </a:pPr>
            <a:r>
              <a:rPr sz="3000" b="0">
                <a:solidFill>
                  <a:srgbClr val="F5F5F5"/>
                </a:solidFill>
                <a:latin typeface="微软雅黑"/>
              </a:rPr>
              <a:t>主页 —— 展示专业度 → 给信任</a:t>
            </a:r>
          </a:p>
          <a:p>
            <a:pPr algn="l">
              <a:spcBef>
                <a:spcPts val="1600"/>
              </a:spcBef>
              <a:spcAft>
                <a:spcPts val="1000"/>
              </a:spcAft>
            </a:pPr>
            <a:r>
              <a:rPr sz="3000" b="0">
                <a:solidFill>
                  <a:srgbClr val="F5F5F5"/>
                </a:solidFill>
                <a:latin typeface="微软雅黑"/>
              </a:rPr>
              <a:t>评论 —— 主动捞人   → 接需求</a:t>
            </a:r>
          </a:p>
          <a:p>
            <a:pPr algn="l">
              <a:spcBef>
                <a:spcPts val="4000"/>
              </a:spcBef>
              <a:spcAft>
                <a:spcPts val="1000"/>
              </a:spcAft>
            </a:pPr>
            <a:r>
              <a:rPr sz="4400" b="1">
                <a:solidFill>
                  <a:srgbClr val="D4AF37"/>
                </a:solidFill>
                <a:latin typeface="微软雅黑"/>
              </a:rPr>
              <a:t>主页给信任，评论接需求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1800"/>
              </a:spcAft>
            </a:pPr>
            <a:r>
              <a:rPr sz="4000" b="1">
                <a:solidFill>
                  <a:srgbClr val="F5F5F5"/>
                </a:solidFill>
                <a:latin typeface="微软雅黑"/>
              </a:rPr>
              <a:t>但是——捞到了，带不走</a:t>
            </a:r>
          </a:p>
          <a:p>
            <a:pPr algn="l">
              <a:spcBef>
                <a:spcPts val="1800"/>
              </a:spcBef>
              <a:spcAft>
                <a:spcPts val="1000"/>
              </a:spcAft>
            </a:pPr>
            <a:r>
              <a:rPr sz="2400" b="0">
                <a:solidFill>
                  <a:srgbClr val="B8BDC4"/>
                </a:solidFill>
                <a:latin typeface="微软雅黑"/>
              </a:rPr>
              <a:t>不能跳微信 / 不能发链接 / 只能说"来主页看看"</a:t>
            </a:r>
          </a:p>
          <a:p>
            <a:pPr algn="l">
              <a:spcBef>
                <a:spcPts val="2200"/>
              </a:spcBef>
              <a:spcAft>
                <a:spcPts val="1000"/>
              </a:spcAft>
            </a:pPr>
            <a:r>
              <a:rPr sz="2800" b="0">
                <a:solidFill>
                  <a:srgbClr val="F5F5F5"/>
                </a:solidFill>
                <a:latin typeface="微软雅黑"/>
              </a:rPr>
              <a:t>他刷到你，点个赞，划走了</a:t>
            </a:r>
          </a:p>
          <a:p>
            <a:pPr algn="l">
              <a:spcBef>
                <a:spcPts val="1800"/>
              </a:spcBef>
              <a:spcAft>
                <a:spcPts val="1000"/>
              </a:spcAft>
            </a:pPr>
            <a:r>
              <a:rPr sz="2800" b="0">
                <a:solidFill>
                  <a:srgbClr val="F5F5F5"/>
                </a:solidFill>
                <a:latin typeface="微软雅黑"/>
              </a:rPr>
              <a:t>小红书不是他的核心聊天软件</a:t>
            </a:r>
          </a:p>
          <a:p>
            <a:pPr algn="l">
              <a:spcBef>
                <a:spcPts val="2200"/>
              </a:spcBef>
              <a:spcAft>
                <a:spcPts val="1000"/>
              </a:spcAft>
            </a:pPr>
            <a:r>
              <a:rPr sz="3200" b="1">
                <a:solidFill>
                  <a:srgbClr val="E8503A"/>
                </a:solidFill>
                <a:latin typeface="微软雅黑"/>
              </a:rPr>
              <a:t>回慢一步，凉一半；回晚一天，忘干净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1800"/>
              </a:spcAft>
            </a:pPr>
            <a:r>
              <a:rPr sz="4000" b="1">
                <a:solidFill>
                  <a:srgbClr val="F5F5F5"/>
                </a:solidFill>
                <a:latin typeface="微软雅黑"/>
              </a:rPr>
              <a:t>接不住，就是白捞</a:t>
            </a:r>
          </a:p>
          <a:p>
            <a:pPr algn="l">
              <a:spcBef>
                <a:spcPts val="2400"/>
              </a:spcBef>
              <a:spcAft>
                <a:spcPts val="1000"/>
              </a:spcAft>
            </a:pPr>
            <a:r>
              <a:rPr sz="3200" b="0">
                <a:solidFill>
                  <a:srgbClr val="F5F5F5"/>
                </a:solidFill>
                <a:latin typeface="微软雅黑"/>
              </a:rPr>
              <a:t>捞人不难，难的是接得住</a:t>
            </a:r>
          </a:p>
          <a:p>
            <a:pPr algn="l">
              <a:spcBef>
                <a:spcPts val="3400"/>
              </a:spcBef>
              <a:spcAft>
                <a:spcPts val="1000"/>
              </a:spcAft>
            </a:pPr>
            <a:r>
              <a:rPr sz="4000" b="1">
                <a:solidFill>
                  <a:srgbClr val="D4AF37"/>
                </a:solidFill>
                <a:latin typeface="微软雅黑"/>
              </a:rPr>
              <a:t>漏一个评论，漏一笔钱</a:t>
            </a:r>
          </a:p>
          <a:p>
            <a:pPr algn="l">
              <a:spcBef>
                <a:spcPts val="1000"/>
              </a:spcBef>
              <a:spcAft>
                <a:spcPts val="1000"/>
              </a:spcAft>
            </a:pPr>
            <a:r>
              <a:rPr sz="4000" b="1">
                <a:solidFill>
                  <a:srgbClr val="D4AF37"/>
                </a:solidFill>
                <a:latin typeface="微软雅黑"/>
              </a:rPr>
              <a:t>漏一个私信，漏一个客户</a:t>
            </a:r>
          </a:p>
          <a:p>
            <a:pPr algn="l">
              <a:spcBef>
                <a:spcPts val="3000"/>
              </a:spcBef>
              <a:spcAft>
                <a:spcPts val="1000"/>
              </a:spcAft>
            </a:pPr>
            <a:r>
              <a:rPr sz="2800" b="0">
                <a:solidFill>
                  <a:srgbClr val="E8503A"/>
                </a:solidFill>
                <a:latin typeface="微软雅黑"/>
              </a:rPr>
              <a:t>你天天在捞，天天在漏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1800"/>
              </a:spcAft>
            </a:pPr>
            <a:r>
              <a:rPr sz="4000" b="1">
                <a:solidFill>
                  <a:srgbClr val="F5F5F5"/>
                </a:solidFill>
                <a:latin typeface="微软雅黑"/>
              </a:rPr>
              <a:t>把这条路径接住</a:t>
            </a:r>
          </a:p>
          <a:p>
            <a:pPr algn="l">
              <a:spcBef>
                <a:spcPts val="2000"/>
              </a:spcBef>
              <a:spcAft>
                <a:spcPts val="1000"/>
              </a:spcAft>
            </a:pPr>
            <a:r>
              <a:rPr sz="3000" b="0">
                <a:solidFill>
                  <a:srgbClr val="F5F5F5"/>
                </a:solidFill>
                <a:latin typeface="微软雅黑"/>
              </a:rPr>
              <a:t>搜索词铺好      →  搜得到</a:t>
            </a:r>
          </a:p>
          <a:p>
            <a:pPr algn="l">
              <a:spcBef>
                <a:spcPts val="1400"/>
              </a:spcBef>
              <a:spcAft>
                <a:spcPts val="1000"/>
              </a:spcAft>
            </a:pPr>
            <a:r>
              <a:rPr sz="3000" b="0">
                <a:solidFill>
                  <a:srgbClr val="F5F5F5"/>
                </a:solidFill>
                <a:latin typeface="微软雅黑"/>
              </a:rPr>
              <a:t>评论区互动      →  看见你</a:t>
            </a:r>
          </a:p>
          <a:p>
            <a:pPr algn="l">
              <a:spcBef>
                <a:spcPts val="1400"/>
              </a:spcBef>
              <a:spcAft>
                <a:spcPts val="1000"/>
              </a:spcAft>
            </a:pPr>
            <a:r>
              <a:rPr sz="3000" b="0">
                <a:solidFill>
                  <a:srgbClr val="F5F5F5"/>
                </a:solidFill>
                <a:latin typeface="微软雅黑"/>
              </a:rPr>
              <a:t>私信接住        →  信你</a:t>
            </a:r>
          </a:p>
          <a:p>
            <a:pPr algn="l">
              <a:spcBef>
                <a:spcPts val="1400"/>
              </a:spcBef>
              <a:spcAft>
                <a:spcPts val="1000"/>
              </a:spcAft>
            </a:pPr>
            <a:r>
              <a:rPr sz="3000" b="0">
                <a:solidFill>
                  <a:srgbClr val="F5F5F5"/>
                </a:solidFill>
                <a:latin typeface="微软雅黑"/>
              </a:rPr>
              <a:t>主页沉淀        →  到你手里</a:t>
            </a:r>
          </a:p>
          <a:p>
            <a:pPr algn="l">
              <a:spcBef>
                <a:spcPts val="3000"/>
              </a:spcBef>
              <a:spcAft>
                <a:spcPts val="1000"/>
              </a:spcAft>
            </a:pPr>
            <a:r>
              <a:rPr sz="3200" b="1">
                <a:solidFill>
                  <a:srgbClr val="E8503A"/>
                </a:solidFill>
                <a:latin typeface="微软雅黑"/>
              </a:rPr>
              <a:t>中间断一环，人就没了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18872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1800"/>
              </a:spcAft>
            </a:pPr>
            <a:r>
              <a:rPr sz="4000" b="1">
                <a:solidFill>
                  <a:srgbClr val="F5F5F5"/>
                </a:solidFill>
                <a:latin typeface="微软雅黑"/>
              </a:rPr>
              <a:t>①  人设比内容重要</a:t>
            </a:r>
          </a:p>
          <a:p>
            <a:pPr algn="l">
              <a:spcBef>
                <a:spcPts val="2600"/>
              </a:spcBef>
              <a:spcAft>
                <a:spcPts val="1000"/>
              </a:spcAft>
            </a:pPr>
            <a:r>
              <a:rPr sz="3000" b="0">
                <a:solidFill>
                  <a:srgbClr val="F5F5F5"/>
                </a:solidFill>
                <a:latin typeface="微软雅黑"/>
              </a:rPr>
              <a:t>凭什么信你？凭什么加你？凭什么买你？</a:t>
            </a:r>
          </a:p>
          <a:p>
            <a:pPr algn="l">
              <a:spcBef>
                <a:spcPts val="2200"/>
              </a:spcBef>
              <a:spcAft>
                <a:spcPts val="1000"/>
              </a:spcAft>
            </a:pPr>
            <a:r>
              <a:rPr sz="2600" b="0">
                <a:solidFill>
                  <a:srgbClr val="8A929C"/>
                </a:solidFill>
                <a:latin typeface="微软雅黑"/>
              </a:rPr>
              <a:t>不是因为你发得多</a:t>
            </a:r>
          </a:p>
          <a:p>
            <a:pPr algn="l">
              <a:spcBef>
                <a:spcPts val="800"/>
              </a:spcBef>
              <a:spcAft>
                <a:spcPts val="1000"/>
              </a:spcAft>
            </a:pPr>
            <a:r>
              <a:rPr sz="3400" b="1">
                <a:solidFill>
                  <a:srgbClr val="D4AF37"/>
                </a:solidFill>
                <a:latin typeface="微软雅黑"/>
              </a:rPr>
              <a:t>是因为你看起来——靠谱、专业、真实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18872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1800"/>
              </a:spcAft>
            </a:pPr>
            <a:r>
              <a:rPr sz="4000" b="1">
                <a:solidFill>
                  <a:srgbClr val="F5F5F5"/>
                </a:solidFill>
                <a:latin typeface="微软雅黑"/>
              </a:rPr>
              <a:t>②  获客才是做生意的本质</a:t>
            </a:r>
          </a:p>
          <a:p>
            <a:pPr algn="l">
              <a:spcBef>
                <a:spcPts val="2400"/>
              </a:spcBef>
              <a:spcAft>
                <a:spcPts val="1000"/>
              </a:spcAft>
            </a:pPr>
            <a:r>
              <a:rPr sz="3000" b="0">
                <a:solidFill>
                  <a:srgbClr val="F5F5F5"/>
                </a:solidFill>
                <a:latin typeface="微软雅黑"/>
              </a:rPr>
              <a:t>客户已经在搜、已经有需求 —— 你把他接住</a:t>
            </a:r>
          </a:p>
          <a:p>
            <a:pPr algn="l">
              <a:spcBef>
                <a:spcPts val="1800"/>
              </a:spcBef>
              <a:spcAft>
                <a:spcPts val="1000"/>
              </a:spcAft>
            </a:pPr>
            <a:r>
              <a:rPr sz="2600" b="0">
                <a:solidFill>
                  <a:srgbClr val="8A929C"/>
                </a:solidFill>
                <a:latin typeface="微软雅黑"/>
              </a:rPr>
              <a:t>不是硬广，不是群发</a:t>
            </a:r>
          </a:p>
          <a:p>
            <a:pPr algn="l">
              <a:spcBef>
                <a:spcPts val="3000"/>
              </a:spcBef>
              <a:spcAft>
                <a:spcPts val="1000"/>
              </a:spcAft>
            </a:pPr>
            <a:r>
              <a:rPr sz="3200" b="1">
                <a:solidFill>
                  <a:srgbClr val="D4AF37"/>
                </a:solidFill>
                <a:latin typeface="微软雅黑"/>
              </a:rPr>
              <a:t>漏一个评论，就漏一笔钱</a:t>
            </a:r>
          </a:p>
          <a:p>
            <a:pPr algn="l">
              <a:spcBef>
                <a:spcPts val="800"/>
              </a:spcBef>
              <a:spcAft>
                <a:spcPts val="1000"/>
              </a:spcAft>
            </a:pPr>
            <a:r>
              <a:rPr sz="3200" b="1">
                <a:solidFill>
                  <a:srgbClr val="D4AF37"/>
                </a:solidFill>
                <a:latin typeface="微软雅黑"/>
              </a:rPr>
              <a:t>接住一个搜索，就多一个客户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18872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1800"/>
              </a:spcAft>
            </a:pPr>
            <a:r>
              <a:rPr sz="4000" b="1">
                <a:solidFill>
                  <a:srgbClr val="F5F5F5"/>
                </a:solidFill>
                <a:latin typeface="微软雅黑"/>
              </a:rPr>
              <a:t>③  不能只靠拼命，得有章法</a:t>
            </a:r>
          </a:p>
          <a:p>
            <a:pPr algn="l">
              <a:spcBef>
                <a:spcPts val="2400"/>
              </a:spcBef>
              <a:spcAft>
                <a:spcPts val="1000"/>
              </a:spcAft>
            </a:pPr>
            <a:r>
              <a:rPr sz="3000" b="0">
                <a:solidFill>
                  <a:srgbClr val="F5F5F5"/>
                </a:solidFill>
                <a:latin typeface="微软雅黑"/>
              </a:rPr>
              <a:t>发完不是结束 —— 承接、跟进、调整</a:t>
            </a:r>
          </a:p>
          <a:p>
            <a:pPr algn="l">
              <a:spcBef>
                <a:spcPts val="1800"/>
              </a:spcBef>
              <a:spcAft>
                <a:spcPts val="1000"/>
              </a:spcAft>
            </a:pPr>
            <a:r>
              <a:rPr sz="3000" b="0">
                <a:solidFill>
                  <a:srgbClr val="F5F5F5"/>
                </a:solidFill>
                <a:latin typeface="微软雅黑"/>
              </a:rPr>
              <a:t>哪条在带人、哪个动作有效，心里得有数</a:t>
            </a:r>
          </a:p>
          <a:p>
            <a:pPr algn="l">
              <a:spcBef>
                <a:spcPts val="3000"/>
              </a:spcBef>
              <a:spcAft>
                <a:spcPts val="1000"/>
              </a:spcAft>
            </a:pPr>
            <a:r>
              <a:rPr sz="3000" b="1">
                <a:solidFill>
                  <a:srgbClr val="E8503A"/>
                </a:solidFill>
                <a:latin typeface="微软雅黑"/>
              </a:rPr>
              <a:t>光靠手动硬干，累死也跑不通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2801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1800"/>
              </a:spcAft>
            </a:pPr>
            <a:r>
              <a:rPr sz="4000" b="1">
                <a:solidFill>
                  <a:srgbClr val="F5F5F5"/>
                </a:solidFill>
                <a:latin typeface="微软雅黑"/>
              </a:rPr>
              <a:t>2026 了，还在为获客发愁？</a:t>
            </a:r>
          </a:p>
          <a:p>
            <a:pPr algn="l">
              <a:spcBef>
                <a:spcPts val="2000"/>
              </a:spcBef>
              <a:spcAft>
                <a:spcPts val="1000"/>
              </a:spcAft>
            </a:pPr>
            <a:r>
              <a:rPr sz="2600" b="0">
                <a:solidFill>
                  <a:srgbClr val="B8BDC4"/>
                </a:solidFill>
                <a:latin typeface="微软雅黑"/>
              </a:rPr>
              <a:t>前大厂码农，江湖散人</a:t>
            </a:r>
          </a:p>
          <a:p>
            <a:pPr algn="l">
              <a:spcBef>
                <a:spcPts val="1800"/>
              </a:spcBef>
              <a:spcAft>
                <a:spcPts val="1000"/>
              </a:spcAft>
            </a:pPr>
            <a:r>
              <a:rPr sz="3200" b="1">
                <a:solidFill>
                  <a:srgbClr val="F5F5F5"/>
                </a:solidFill>
                <a:latin typeface="微软雅黑"/>
              </a:rPr>
              <a:t>AI 雕兄 · 纯内容获客 · 15 天承接 1000+ 真人</a:t>
            </a:r>
          </a:p>
          <a:p>
            <a:pPr algn="l">
              <a:spcBef>
                <a:spcPts val="800"/>
              </a:spcBef>
              <a:spcAft>
                <a:spcPts val="1000"/>
              </a:spcAft>
            </a:pPr>
            <a:r>
              <a:rPr sz="2000" b="0">
                <a:solidFill>
                  <a:srgbClr val="8A929C"/>
                </a:solidFill>
                <a:latin typeface="微软雅黑"/>
              </a:rPr>
              <a:t>效果因人而异</a:t>
            </a:r>
          </a:p>
          <a:p>
            <a:pPr algn="l">
              <a:spcBef>
                <a:spcPts val="3400"/>
              </a:spcBef>
              <a:spcAft>
                <a:spcPts val="1000"/>
              </a:spcAft>
            </a:pPr>
            <a:r>
              <a:rPr sz="4000" b="1">
                <a:solidFill>
                  <a:srgbClr val="D4AF37"/>
                </a:solidFill>
                <a:latin typeface="微软雅黑"/>
              </a:rPr>
              <a:t>9.9 试用 —— 先做账号诊断</a:t>
            </a:r>
          </a:p>
          <a:p>
            <a:pPr algn="l">
              <a:spcBef>
                <a:spcPts val="1200"/>
              </a:spcBef>
              <a:spcAft>
                <a:spcPts val="1000"/>
              </a:spcAft>
            </a:pPr>
            <a:r>
              <a:rPr sz="2400" b="0">
                <a:solidFill>
                  <a:srgbClr val="B8BDC4"/>
                </a:solidFill>
                <a:latin typeface="微软雅黑"/>
              </a:rPr>
              <a:t>方向对不对，先诊断了才知道 · 不合适，不勉强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